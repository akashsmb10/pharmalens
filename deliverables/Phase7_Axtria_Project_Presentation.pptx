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as an independent portfolio implementation supported by public NHSBSA data. State explicitly that Codex assisted substantially with implementation and audit work. Define the business boundary: recorded dispensing items and NHS ingredient cost, not patients or manufacturer revenue. The evidence period is January 2023 through December 2025. Explain the end-to-end connection between source, calculations and dashboard rather than claiming client adoption or savings.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questions are descriptive and analytical. Cost trends, reliability review and assumption-driven planning are useful demonstrations, but the project does not identify a market intervention. Explain why an item is not a patient and why NIC is not manufacturer sales. Operational use would require a named decision, authorized business data and user validation.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immutable API snapshots and stable identifiers. The transformed monthly grain aggregates administrative records while preserving item and NIC totals. Distinguish the full region-presentation calendar from observed records. Absence is not converted to zero. Quantity is kept with its source unit because tablets and liquids cannot be pooled as though they were equivalent. Data publication delay and revisions limit any claim of real-time 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source receipts, validation, monthly data, DuckDB facts and views, exploratory diagnostics, origin-constrained forecasts, monitoring scenarios and reporting marts. The Mermaid source and SVG use the same node and edge definition. Cross-cutting validation includes hashes, contracts, independent arithmetic, regression tests and browser checks. The dashboard consumes validated outputs; it does not fit models during a user interaction.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to the two series and preserve their units. The 2025 item total is 76,860,890 and NIC is £75,973,698.28. The growth comparison is against 2024, not the full-history total. A change in item count does not alone determine ingredient cost because mix and per-item ratios also change. These are observed administrative totals, with no assertion of unique patients or manufacturer revenue.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three-factor identity: aggregate items times presentation shares times presentation NIC-per-item ratios. Symmetric allocation across factor-change orders handles interactions and reconciles to the observed change. The within-presentation effect outweighs positive volume and mix contributions. This is not evidence that negotiation, expiry or substitution caused the decline. Trend and seasonality diagnostics are descriptive, with only three annual cycles available.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rolling origins and common evaluation support. The national choice was frozen before July–December 2025 holdout targets. ETS improves MASE by about 19.75 percent against evaluated naive on the same support. Ridge has lower holdout MASE, which is disclosed, but replacing ETS after looking at those results would contaminate selection. Horizon counts are six, five and four, and overlapping cells are not independent replications.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forecast scope includes one national, seven regional and twenty-eight region-presentation series. No 2026 actuals validate the operational forecasts. The observation cutoff is not proof of contemporaneous data availability because publication is delayed. Interval calibration requires twenty residuals per horizon under the implemented rule, while the saved support is six, five and four. Independent forecasts can have coherence gaps. These limits are visible rather than hidden by invented intervals.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activity, change, cost, forecast and quality evidence and the explicit weights. Percentiles are relative to their scope and tied values receive documented midranks. Missing required evidence remains unscored. Ranking instability means the order depends on the policy, not that source totals are wrong. The investigation register has source and rule lineage, but the proposed reviews have not been adopted or validated as business actions.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that the simulator is a deterministic accounting map. Using the 2025 observed baseline, five percent more items at fixed NIC per item gives £79,772,383.19. Combining five percent more items and five percent lower ratio gives £75,783,764.03. Equal opposite percentages do not cancel because of their interaction. These are assumptions, not estimated causal effects or realized savings. Mix transfers also require item conservation and nonnegative source quantities.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screenshot of the actual local Streamlit application, not a mockup. Walk through executive, regional, presentation, forecasting, decision and scenario views. Explain what AppTest checks versus Chrome checks and why a matching CSV download matters. The isolated runtime environment tests declared dependencies and packaged marts, while the full original analytical regression is separate. Read final audit counts from the current report rather than inventing a result.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naming limitations before future additions. Additional history and prospective data could strengthen evaluation and calibration. Authorized commercial fields would support a separate, correctly defined business analysis. Domain users should validate priority policies and investigation usefulness. No remote repository, cloud release or actual GitHub Actions execution is claimed. Attribution to NHSBSA and the Open Government Licence is supplied; source-code licence choice remains an owner decision.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064240" cy="365760"/>
          </a:xfrm>
          <a:prstGeom prst="rect">
            <a:avLst/>
          </a:prstGeom>
          <a:noFill/>
        </p:spPr>
        <p:txBody>
          <a:bodyPr wrap="square">
            <a:spAutoFit/>
          </a:bodyPr>
          <a:lstStyle/>
          <a:p>
            <a:pPr>
              <a:spcAft>
                <a:spcPts val="1400"/>
              </a:spcAft>
              <a:defRPr sz="1500" b="1">
                <a:solidFill>
                  <a:srgbClr val="176B87"/>
                </a:solidFill>
              </a:defRPr>
            </a:pPr>
            <a:r>
              <a:t>PharmaLens</a:t>
            </a:r>
          </a:p>
        </p:txBody>
      </p:sp>
      <p:sp>
        <p:nvSpPr>
          <p:cNvPr id="3" name="TextBox 2"/>
          <p:cNvSpPr txBox="1"/>
          <p:nvPr/>
        </p:nvSpPr>
        <p:spPr>
          <a:xfrm>
            <a:off x="502920" y="804672"/>
            <a:ext cx="11064240" cy="914400"/>
          </a:xfrm>
          <a:prstGeom prst="rect">
            <a:avLst/>
          </a:prstGeom>
          <a:noFill/>
        </p:spPr>
        <p:txBody>
          <a:bodyPr wrap="square">
            <a:spAutoFit/>
          </a:bodyPr>
          <a:lstStyle/>
          <a:p>
            <a:pPr>
              <a:spcAft>
                <a:spcPts val="1400"/>
              </a:spcAft>
              <a:defRPr sz="3000" b="1">
                <a:solidFill>
                  <a:srgbClr val="142B45"/>
                </a:solidFill>
              </a:defRPr>
            </a:pPr>
            <a:r>
              <a:t>Pharmaceutical prescribing intelligence</a:t>
            </a:r>
          </a:p>
          <a:p>
            <a:pPr>
              <a:spcAft>
                <a:spcPts val="1400"/>
              </a:spcAft>
              <a:defRPr sz="3000" b="1">
                <a:solidFill>
                  <a:srgbClr val="142B45"/>
                </a:solidFill>
              </a:defRPr>
            </a:pPr>
            <a:r>
              <a:t>Independent, AI-assisted portfolio project</a:t>
            </a:r>
          </a:p>
        </p:txBody>
      </p:sp>
      <p:sp>
        <p:nvSpPr>
          <p:cNvPr id="4" name="TextBox 3"/>
          <p:cNvSpPr txBox="1"/>
          <p:nvPr/>
        </p:nvSpPr>
        <p:spPr>
          <a:xfrm>
            <a:off x="594360" y="1874519"/>
            <a:ext cx="10789920" cy="4160520"/>
          </a:xfrm>
          <a:prstGeom prst="rect">
            <a:avLst/>
          </a:prstGeom>
          <a:noFill/>
        </p:spPr>
        <p:txBody>
          <a:bodyPr wrap="square">
            <a:spAutoFit/>
          </a:bodyPr>
          <a:lstStyle/>
          <a:p>
            <a:pPr>
              <a:spcAft>
                <a:spcPts val="1400"/>
              </a:spcAft>
              <a:defRPr sz="2000" b="0">
                <a:solidFill>
                  <a:srgbClr val="142B45"/>
                </a:solidFill>
              </a:defRPr>
            </a:pPr>
            <a:r>
              <a:t>• England · atorvastatin · 36 observed months</a:t>
            </a:r>
          </a:p>
          <a:p>
            <a:pPr>
              <a:spcAft>
                <a:spcPts val="1400"/>
              </a:spcAft>
              <a:defRPr sz="2000" b="0">
                <a:solidFill>
                  <a:srgbClr val="142B45"/>
                </a:solidFill>
              </a:defRPr>
            </a:pPr>
            <a:r>
              <a:t>• SQL, statistical diagnostics, frozen forecasts and decision support</a:t>
            </a:r>
          </a:p>
          <a:p>
            <a:pPr>
              <a:spcAft>
                <a:spcPts val="1400"/>
              </a:spcAft>
              <a:defRPr sz="2000" b="0">
                <a:solidFill>
                  <a:srgbClr val="142B45"/>
                </a:solidFill>
              </a:defRPr>
            </a:pPr>
            <a:r>
              <a:t>• Public administrative evidence; no proprietary client data</a:t>
            </a:r>
          </a:p>
        </p:txBody>
      </p:sp>
      <p:sp>
        <p:nvSpPr>
          <p:cNvPr id="5" name="TextBox 4"/>
          <p:cNvSpPr txBox="1"/>
          <p:nvPr/>
        </p:nvSpPr>
        <p:spPr>
          <a:xfrm>
            <a:off x="502920" y="6473952"/>
            <a:ext cx="10789920" cy="228600"/>
          </a:xfrm>
          <a:prstGeom prst="rect">
            <a:avLst/>
          </a:prstGeom>
          <a:noFill/>
        </p:spPr>
        <p:txBody>
          <a:bodyPr wrap="square">
            <a:spAutoFit/>
          </a:bodyPr>
          <a:lstStyle/>
          <a:p>
            <a:pPr>
              <a:spcAft>
                <a:spcPts val="1400"/>
              </a:spcAft>
              <a:defRPr sz="1000" b="0">
                <a:solidFill>
                  <a:srgbClr val="52647A"/>
                </a:solidFill>
              </a:defRPr>
            </a:pPr>
            <a:r>
              <a:t>PharmaLens · public NHSBSA data · independent AI-assisted portfolio · October 2026</a:t>
            </a:r>
          </a:p>
        </p:txBody>
      </p:sp>
      <p:sp>
        <p:nvSpPr>
          <p:cNvPr id="6" name="TextBox 5"/>
          <p:cNvSpPr txBox="1"/>
          <p:nvPr/>
        </p:nvSpPr>
        <p:spPr>
          <a:xfrm>
            <a:off x="11247120" y="6473952"/>
            <a:ext cx="457200" cy="228600"/>
          </a:xfrm>
          <a:prstGeom prst="rect">
            <a:avLst/>
          </a:prstGeom>
          <a:noFill/>
        </p:spPr>
        <p:txBody>
          <a:bodyPr wrap="square">
            <a:spAutoFit/>
          </a:bodyPr>
          <a:lstStyle/>
          <a:p>
            <a:pPr>
              <a:spcAft>
                <a:spcPts val="1400"/>
              </a:spcAft>
              <a:defRPr sz="1000" b="0">
                <a:solidFill>
                  <a:srgbClr val="52647A"/>
                </a:solidFill>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064240" cy="365760"/>
          </a:xfrm>
          <a:prstGeom prst="rect">
            <a:avLst/>
          </a:prstGeom>
          <a:noFill/>
        </p:spPr>
        <p:txBody>
          <a:bodyPr wrap="square">
            <a:spAutoFit/>
          </a:bodyPr>
          <a:lstStyle/>
          <a:p>
            <a:pPr>
              <a:spcAft>
                <a:spcPts val="1400"/>
              </a:spcAft>
              <a:defRPr sz="1500" b="1">
                <a:solidFill>
                  <a:srgbClr val="176B87"/>
                </a:solidFill>
              </a:defRPr>
            </a:pPr>
            <a:r>
              <a:t>01 · Business question</a:t>
            </a:r>
          </a:p>
        </p:txBody>
      </p:sp>
      <p:sp>
        <p:nvSpPr>
          <p:cNvPr id="3" name="TextBox 2"/>
          <p:cNvSpPr txBox="1"/>
          <p:nvPr/>
        </p:nvSpPr>
        <p:spPr>
          <a:xfrm>
            <a:off x="502920" y="804672"/>
            <a:ext cx="11064240" cy="914400"/>
          </a:xfrm>
          <a:prstGeom prst="rect">
            <a:avLst/>
          </a:prstGeom>
          <a:noFill/>
        </p:spPr>
        <p:txBody>
          <a:bodyPr wrap="square">
            <a:spAutoFit/>
          </a:bodyPr>
          <a:lstStyle/>
          <a:p>
            <a:pPr>
              <a:spcAft>
                <a:spcPts val="1400"/>
              </a:spcAft>
              <a:defRPr sz="3000" b="1">
                <a:solidFill>
                  <a:srgbClr val="142B45"/>
                </a:solidFill>
              </a:defRPr>
            </a:pPr>
            <a:r>
              <a:t>Make the evidence useful without overstating it</a:t>
            </a:r>
          </a:p>
        </p:txBody>
      </p:sp>
      <p:sp>
        <p:nvSpPr>
          <p:cNvPr id="4" name="TextBox 3"/>
          <p:cNvSpPr txBox="1"/>
          <p:nvPr/>
        </p:nvSpPr>
        <p:spPr>
          <a:xfrm>
            <a:off x="594360" y="1874519"/>
            <a:ext cx="10789920" cy="4160520"/>
          </a:xfrm>
          <a:prstGeom prst="rect">
            <a:avLst/>
          </a:prstGeom>
          <a:noFill/>
        </p:spPr>
        <p:txBody>
          <a:bodyPr wrap="square">
            <a:spAutoFit/>
          </a:bodyPr>
          <a:lstStyle/>
          <a:p>
            <a:pPr>
              <a:spcAft>
                <a:spcPts val="1400"/>
              </a:spcAft>
              <a:defRPr sz="2000" b="0">
                <a:solidFill>
                  <a:srgbClr val="142B45"/>
                </a:solidFill>
              </a:defRPr>
            </a:pPr>
            <a:r>
              <a:t>• What changed in observed activity and ingredient cost?</a:t>
            </a:r>
          </a:p>
          <a:p>
            <a:pPr>
              <a:spcAft>
                <a:spcPts val="1400"/>
              </a:spcAft>
              <a:defRPr sz="2000" b="0">
                <a:solidFill>
                  <a:srgbClr val="142B45"/>
                </a:solidFill>
              </a:defRPr>
            </a:pPr>
            <a:r>
              <a:t>• Which forecasts and review priorities need caution?</a:t>
            </a:r>
          </a:p>
          <a:p>
            <a:pPr>
              <a:spcAft>
                <a:spcPts val="1400"/>
              </a:spcAft>
              <a:defRPr sz="2000" b="0">
                <a:solidFill>
                  <a:srgbClr val="142B45"/>
                </a:solidFill>
              </a:defRPr>
            </a:pPr>
            <a:r>
              <a:t>• What follows from an explicit accounting assumption?</a:t>
            </a:r>
          </a:p>
        </p:txBody>
      </p:sp>
      <p:sp>
        <p:nvSpPr>
          <p:cNvPr id="5" name="TextBox 4"/>
          <p:cNvSpPr txBox="1"/>
          <p:nvPr/>
        </p:nvSpPr>
        <p:spPr>
          <a:xfrm>
            <a:off x="502920" y="6473952"/>
            <a:ext cx="10789920" cy="228600"/>
          </a:xfrm>
          <a:prstGeom prst="rect">
            <a:avLst/>
          </a:prstGeom>
          <a:noFill/>
        </p:spPr>
        <p:txBody>
          <a:bodyPr wrap="square">
            <a:spAutoFit/>
          </a:bodyPr>
          <a:lstStyle/>
          <a:p>
            <a:pPr>
              <a:spcAft>
                <a:spcPts val="1400"/>
              </a:spcAft>
              <a:defRPr sz="1000" b="0">
                <a:solidFill>
                  <a:srgbClr val="52647A"/>
                </a:solidFill>
              </a:defRPr>
            </a:pPr>
            <a:r>
              <a:t>PharmaLens · public NHSBSA data · independent AI-assisted portfolio · October 2026</a:t>
            </a:r>
          </a:p>
        </p:txBody>
      </p:sp>
      <p:sp>
        <p:nvSpPr>
          <p:cNvPr id="6" name="TextBox 5"/>
          <p:cNvSpPr txBox="1"/>
          <p:nvPr/>
        </p:nvSpPr>
        <p:spPr>
          <a:xfrm>
            <a:off x="11247120" y="6473952"/>
            <a:ext cx="457200" cy="228600"/>
          </a:xfrm>
          <a:prstGeom prst="rect">
            <a:avLst/>
          </a:prstGeom>
          <a:noFill/>
        </p:spPr>
        <p:txBody>
          <a:bodyPr wrap="square">
            <a:spAutoFit/>
          </a:bodyPr>
          <a:lstStyle/>
          <a:p>
            <a:pPr>
              <a:spcAft>
                <a:spcPts val="1400"/>
              </a:spcAft>
              <a:defRPr sz="1000" b="0">
                <a:solidFill>
                  <a:srgbClr val="52647A"/>
                </a:solidFill>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064240" cy="365760"/>
          </a:xfrm>
          <a:prstGeom prst="rect">
            <a:avLst/>
          </a:prstGeom>
          <a:noFill/>
        </p:spPr>
        <p:txBody>
          <a:bodyPr wrap="square">
            <a:spAutoFit/>
          </a:bodyPr>
          <a:lstStyle/>
          <a:p>
            <a:pPr>
              <a:spcAft>
                <a:spcPts val="1400"/>
              </a:spcAft>
              <a:defRPr sz="1500" b="1">
                <a:solidFill>
                  <a:srgbClr val="176B87"/>
                </a:solidFill>
              </a:defRPr>
            </a:pPr>
            <a:r>
              <a:t>02 · Data scope</a:t>
            </a:r>
          </a:p>
        </p:txBody>
      </p:sp>
      <p:sp>
        <p:nvSpPr>
          <p:cNvPr id="3" name="TextBox 2"/>
          <p:cNvSpPr txBox="1"/>
          <p:nvPr/>
        </p:nvSpPr>
        <p:spPr>
          <a:xfrm>
            <a:off x="502920" y="804672"/>
            <a:ext cx="11064240" cy="914400"/>
          </a:xfrm>
          <a:prstGeom prst="rect">
            <a:avLst/>
          </a:prstGeom>
          <a:noFill/>
        </p:spPr>
        <p:txBody>
          <a:bodyPr wrap="square">
            <a:spAutoFit/>
          </a:bodyPr>
          <a:lstStyle/>
          <a:p>
            <a:pPr>
              <a:spcAft>
                <a:spcPts val="1400"/>
              </a:spcAft>
              <a:defRPr sz="3000" b="1">
                <a:solidFill>
                  <a:srgbClr val="142B45"/>
                </a:solidFill>
              </a:defRPr>
            </a:pPr>
            <a:r>
              <a:t>Preserve grain, units and provenance</a:t>
            </a:r>
          </a:p>
        </p:txBody>
      </p:sp>
      <p:sp>
        <p:nvSpPr>
          <p:cNvPr id="4" name="TextBox 3"/>
          <p:cNvSpPr txBox="1"/>
          <p:nvPr/>
        </p:nvSpPr>
        <p:spPr>
          <a:xfrm>
            <a:off x="594360" y="1874519"/>
            <a:ext cx="10789920" cy="4160520"/>
          </a:xfrm>
          <a:prstGeom prst="rect">
            <a:avLst/>
          </a:prstGeom>
          <a:noFill/>
        </p:spPr>
        <p:txBody>
          <a:bodyPr wrap="square">
            <a:spAutoFit/>
          </a:bodyPr>
          <a:lstStyle/>
          <a:p>
            <a:pPr>
              <a:spcAft>
                <a:spcPts val="1400"/>
              </a:spcAft>
              <a:defRPr sz="2000" b="0">
                <a:solidFill>
                  <a:srgbClr val="142B45"/>
                </a:solidFill>
              </a:defRPr>
            </a:pPr>
            <a:r>
              <a:t>• 50,456 source rows → 3,920 monthly rows</a:t>
            </a:r>
          </a:p>
          <a:p>
            <a:pPr>
              <a:spcAft>
                <a:spcPts val="1400"/>
              </a:spcAft>
              <a:defRPr sz="2000" b="0">
                <a:solidFill>
                  <a:srgbClr val="142B45"/>
                </a:solidFill>
              </a:defRPr>
            </a:pPr>
            <a:r>
              <a:t>• 7 regions · 17 presentations · 36 observed months</a:t>
            </a:r>
          </a:p>
          <a:p>
            <a:pPr>
              <a:spcAft>
                <a:spcPts val="1400"/>
              </a:spcAft>
              <a:defRPr sz="2000" b="0">
                <a:solidFill>
                  <a:srgbClr val="142B45"/>
                </a:solidFill>
              </a:defRPr>
            </a:pPr>
            <a:r>
              <a:t>• Missing activity stays unknown; physical units remain separate</a:t>
            </a:r>
          </a:p>
        </p:txBody>
      </p:sp>
      <p:sp>
        <p:nvSpPr>
          <p:cNvPr id="5" name="TextBox 4"/>
          <p:cNvSpPr txBox="1"/>
          <p:nvPr/>
        </p:nvSpPr>
        <p:spPr>
          <a:xfrm>
            <a:off x="502920" y="6473952"/>
            <a:ext cx="10789920" cy="228600"/>
          </a:xfrm>
          <a:prstGeom prst="rect">
            <a:avLst/>
          </a:prstGeom>
          <a:noFill/>
        </p:spPr>
        <p:txBody>
          <a:bodyPr wrap="square">
            <a:spAutoFit/>
          </a:bodyPr>
          <a:lstStyle/>
          <a:p>
            <a:pPr>
              <a:spcAft>
                <a:spcPts val="1400"/>
              </a:spcAft>
              <a:defRPr sz="1000" b="0">
                <a:solidFill>
                  <a:srgbClr val="52647A"/>
                </a:solidFill>
              </a:defRPr>
            </a:pPr>
            <a:r>
              <a:t>PharmaLens · public NHSBSA data · independent AI-assisted portfolio · October 2026</a:t>
            </a:r>
          </a:p>
        </p:txBody>
      </p:sp>
      <p:sp>
        <p:nvSpPr>
          <p:cNvPr id="6" name="TextBox 5"/>
          <p:cNvSpPr txBox="1"/>
          <p:nvPr/>
        </p:nvSpPr>
        <p:spPr>
          <a:xfrm>
            <a:off x="11247120" y="6473952"/>
            <a:ext cx="457200" cy="228600"/>
          </a:xfrm>
          <a:prstGeom prst="rect">
            <a:avLst/>
          </a:prstGeom>
          <a:noFill/>
        </p:spPr>
        <p:txBody>
          <a:bodyPr wrap="square">
            <a:spAutoFit/>
          </a:bodyPr>
          <a:lstStyle/>
          <a:p>
            <a:pPr>
              <a:spcAft>
                <a:spcPts val="1400"/>
              </a:spcAft>
              <a:defRPr sz="1000" b="0">
                <a:solidFill>
                  <a:srgbClr val="52647A"/>
                </a:solidFill>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064240" cy="365760"/>
          </a:xfrm>
          <a:prstGeom prst="rect">
            <a:avLst/>
          </a:prstGeom>
          <a:noFill/>
        </p:spPr>
        <p:txBody>
          <a:bodyPr wrap="square">
            <a:spAutoFit/>
          </a:bodyPr>
          <a:lstStyle/>
          <a:p>
            <a:pPr>
              <a:spcAft>
                <a:spcPts val="1400"/>
              </a:spcAft>
              <a:defRPr sz="1500" b="1">
                <a:solidFill>
                  <a:srgbClr val="176B87"/>
                </a:solidFill>
              </a:defRPr>
            </a:pPr>
            <a:r>
              <a:t>03 · Architecture</a:t>
            </a:r>
          </a:p>
        </p:txBody>
      </p:sp>
      <p:sp>
        <p:nvSpPr>
          <p:cNvPr id="3" name="TextBox 2"/>
          <p:cNvSpPr txBox="1"/>
          <p:nvPr/>
        </p:nvSpPr>
        <p:spPr>
          <a:xfrm>
            <a:off x="502920" y="804672"/>
            <a:ext cx="11064240" cy="914400"/>
          </a:xfrm>
          <a:prstGeom prst="rect">
            <a:avLst/>
          </a:prstGeom>
          <a:noFill/>
        </p:spPr>
        <p:txBody>
          <a:bodyPr wrap="square">
            <a:spAutoFit/>
          </a:bodyPr>
          <a:lstStyle/>
          <a:p>
            <a:pPr>
              <a:spcAft>
                <a:spcPts val="1400"/>
              </a:spcAft>
              <a:defRPr sz="3000" b="1">
                <a:solidFill>
                  <a:srgbClr val="142B45"/>
                </a:solidFill>
              </a:defRPr>
            </a:pPr>
            <a:r>
              <a:t>A traceable path from source to screen</a:t>
            </a:r>
          </a:p>
        </p:txBody>
      </p:sp>
      <p:pic>
        <p:nvPicPr>
          <p:cNvPr id="4" name="Picture 3" descr="architecture.png"/>
          <p:cNvPicPr>
            <a:picLocks noChangeAspect="1"/>
          </p:cNvPicPr>
          <p:nvPr/>
        </p:nvPicPr>
        <p:blipFill>
          <a:blip r:embed="rId2"/>
          <a:stretch>
            <a:fillRect/>
          </a:stretch>
        </p:blipFill>
        <p:spPr>
          <a:xfrm>
            <a:off x="1944858" y="1874519"/>
            <a:ext cx="8271803" cy="4480560"/>
          </a:xfrm>
          <a:prstGeom prst="rect">
            <a:avLst/>
          </a:prstGeom>
        </p:spPr>
      </p:pic>
      <p:sp>
        <p:nvSpPr>
          <p:cNvPr id="5" name="TextBox 4"/>
          <p:cNvSpPr txBox="1"/>
          <p:nvPr/>
        </p:nvSpPr>
        <p:spPr>
          <a:xfrm>
            <a:off x="502920" y="6473952"/>
            <a:ext cx="10789920" cy="228600"/>
          </a:xfrm>
          <a:prstGeom prst="rect">
            <a:avLst/>
          </a:prstGeom>
          <a:noFill/>
        </p:spPr>
        <p:txBody>
          <a:bodyPr wrap="square">
            <a:spAutoFit/>
          </a:bodyPr>
          <a:lstStyle/>
          <a:p>
            <a:pPr>
              <a:spcAft>
                <a:spcPts val="1400"/>
              </a:spcAft>
              <a:defRPr sz="1000" b="0">
                <a:solidFill>
                  <a:srgbClr val="52647A"/>
                </a:solidFill>
              </a:defRPr>
            </a:pPr>
            <a:r>
              <a:t>PharmaLens · public NHSBSA data · independent AI-assisted portfolio · October 2026</a:t>
            </a:r>
          </a:p>
        </p:txBody>
      </p:sp>
      <p:sp>
        <p:nvSpPr>
          <p:cNvPr id="6" name="TextBox 5"/>
          <p:cNvSpPr txBox="1"/>
          <p:nvPr/>
        </p:nvSpPr>
        <p:spPr>
          <a:xfrm>
            <a:off x="11247120" y="6473952"/>
            <a:ext cx="457200" cy="228600"/>
          </a:xfrm>
          <a:prstGeom prst="rect">
            <a:avLst/>
          </a:prstGeom>
          <a:noFill/>
        </p:spPr>
        <p:txBody>
          <a:bodyPr wrap="square">
            <a:spAutoFit/>
          </a:bodyPr>
          <a:lstStyle/>
          <a:p>
            <a:pPr>
              <a:spcAft>
                <a:spcPts val="1400"/>
              </a:spcAft>
              <a:defRPr sz="1000" b="0">
                <a:solidFill>
                  <a:srgbClr val="52647A"/>
                </a:solidFill>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064240" cy="365760"/>
          </a:xfrm>
          <a:prstGeom prst="rect">
            <a:avLst/>
          </a:prstGeom>
          <a:noFill/>
        </p:spPr>
        <p:txBody>
          <a:bodyPr wrap="square">
            <a:spAutoFit/>
          </a:bodyPr>
          <a:lstStyle/>
          <a:p>
            <a:pPr>
              <a:spcAft>
                <a:spcPts val="1400"/>
              </a:spcAft>
              <a:defRPr sz="1500" b="1">
                <a:solidFill>
                  <a:srgbClr val="176B87"/>
                </a:solidFill>
              </a:defRPr>
            </a:pPr>
            <a:r>
              <a:t>04 · Observed findings</a:t>
            </a:r>
          </a:p>
        </p:txBody>
      </p:sp>
      <p:sp>
        <p:nvSpPr>
          <p:cNvPr id="3" name="TextBox 2"/>
          <p:cNvSpPr txBox="1"/>
          <p:nvPr/>
        </p:nvSpPr>
        <p:spPr>
          <a:xfrm>
            <a:off x="502920" y="804672"/>
            <a:ext cx="11064240" cy="914400"/>
          </a:xfrm>
          <a:prstGeom prst="rect">
            <a:avLst/>
          </a:prstGeom>
          <a:noFill/>
        </p:spPr>
        <p:txBody>
          <a:bodyPr wrap="square">
            <a:spAutoFit/>
          </a:bodyPr>
          <a:lstStyle/>
          <a:p>
            <a:pPr>
              <a:spcAft>
                <a:spcPts val="1400"/>
              </a:spcAft>
              <a:defRPr sz="3000" b="1">
                <a:solidFill>
                  <a:srgbClr val="142B45"/>
                </a:solidFill>
              </a:defRPr>
            </a:pPr>
            <a:r>
              <a:t>Activity rose while NIC fell</a:t>
            </a:r>
          </a:p>
        </p:txBody>
      </p:sp>
      <p:pic>
        <p:nvPicPr>
          <p:cNvPr id="4" name="Picture 3" descr="observed_activity_nic.png"/>
          <p:cNvPicPr>
            <a:picLocks noChangeAspect="1"/>
          </p:cNvPicPr>
          <p:nvPr/>
        </p:nvPicPr>
        <p:blipFill>
          <a:blip r:embed="rId2"/>
          <a:stretch>
            <a:fillRect/>
          </a:stretch>
        </p:blipFill>
        <p:spPr>
          <a:xfrm>
            <a:off x="4480560" y="1874519"/>
            <a:ext cx="7178040" cy="4353133"/>
          </a:xfrm>
          <a:prstGeom prst="rect">
            <a:avLst/>
          </a:prstGeom>
        </p:spPr>
      </p:pic>
      <p:sp>
        <p:nvSpPr>
          <p:cNvPr id="5" name="TextBox 4"/>
          <p:cNvSpPr txBox="1"/>
          <p:nvPr/>
        </p:nvSpPr>
        <p:spPr>
          <a:xfrm>
            <a:off x="594360" y="1874519"/>
            <a:ext cx="3611880" cy="4160520"/>
          </a:xfrm>
          <a:prstGeom prst="rect">
            <a:avLst/>
          </a:prstGeom>
          <a:noFill/>
        </p:spPr>
        <p:txBody>
          <a:bodyPr wrap="square">
            <a:spAutoFit/>
          </a:bodyPr>
          <a:lstStyle/>
          <a:p>
            <a:pPr>
              <a:spcAft>
                <a:spcPts val="1400"/>
              </a:spcAft>
              <a:defRPr sz="2000" b="0">
                <a:solidFill>
                  <a:srgbClr val="142B45"/>
                </a:solidFill>
              </a:defRPr>
            </a:pPr>
            <a:r>
              <a:t>• 2025 items: 76.86m · +7.58% versus 2024</a:t>
            </a:r>
          </a:p>
          <a:p>
            <a:pPr>
              <a:spcAft>
                <a:spcPts val="1400"/>
              </a:spcAft>
              <a:defRPr sz="2000" b="0">
                <a:solidFill>
                  <a:srgbClr val="142B45"/>
                </a:solidFill>
              </a:defRPr>
            </a:pPr>
            <a:r>
              <a:t>• 2025 NIC: £75.97m · −39.93% versus 2024</a:t>
            </a:r>
          </a:p>
          <a:p>
            <a:pPr>
              <a:spcAft>
                <a:spcPts val="1400"/>
              </a:spcAft>
              <a:defRPr sz="2000" b="0">
                <a:solidFill>
                  <a:srgbClr val="142B45"/>
                </a:solidFill>
              </a:defRPr>
            </a:pPr>
            <a:r>
              <a:t>• The measures have different accounting meanings</a:t>
            </a:r>
          </a:p>
        </p:txBody>
      </p:sp>
      <p:sp>
        <p:nvSpPr>
          <p:cNvPr id="6" name="TextBox 5"/>
          <p:cNvSpPr txBox="1"/>
          <p:nvPr/>
        </p:nvSpPr>
        <p:spPr>
          <a:xfrm>
            <a:off x="502920" y="6473952"/>
            <a:ext cx="10789920" cy="228600"/>
          </a:xfrm>
          <a:prstGeom prst="rect">
            <a:avLst/>
          </a:prstGeom>
          <a:noFill/>
        </p:spPr>
        <p:txBody>
          <a:bodyPr wrap="square">
            <a:spAutoFit/>
          </a:bodyPr>
          <a:lstStyle/>
          <a:p>
            <a:pPr>
              <a:spcAft>
                <a:spcPts val="1400"/>
              </a:spcAft>
              <a:defRPr sz="1000" b="0">
                <a:solidFill>
                  <a:srgbClr val="52647A"/>
                </a:solidFill>
              </a:defRPr>
            </a:pPr>
            <a:r>
              <a:t>PharmaLens · public NHSBSA data · independent AI-assisted portfolio · October 2026</a:t>
            </a:r>
          </a:p>
        </p:txBody>
      </p:sp>
      <p:sp>
        <p:nvSpPr>
          <p:cNvPr id="7" name="TextBox 6"/>
          <p:cNvSpPr txBox="1"/>
          <p:nvPr/>
        </p:nvSpPr>
        <p:spPr>
          <a:xfrm>
            <a:off x="11247120" y="6473952"/>
            <a:ext cx="457200" cy="228600"/>
          </a:xfrm>
          <a:prstGeom prst="rect">
            <a:avLst/>
          </a:prstGeom>
          <a:noFill/>
        </p:spPr>
        <p:txBody>
          <a:bodyPr wrap="square">
            <a:spAutoFit/>
          </a:bodyPr>
          <a:lstStyle/>
          <a:p>
            <a:pPr>
              <a:spcAft>
                <a:spcPts val="1400"/>
              </a:spcAft>
              <a:defRPr sz="1000" b="0">
                <a:solidFill>
                  <a:srgbClr val="52647A"/>
                </a:solidFill>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064240" cy="365760"/>
          </a:xfrm>
          <a:prstGeom prst="rect">
            <a:avLst/>
          </a:prstGeom>
          <a:noFill/>
        </p:spPr>
        <p:txBody>
          <a:bodyPr wrap="square">
            <a:spAutoFit/>
          </a:bodyPr>
          <a:lstStyle/>
          <a:p>
            <a:pPr>
              <a:spcAft>
                <a:spcPts val="1400"/>
              </a:spcAft>
              <a:defRPr sz="1500" b="1">
                <a:solidFill>
                  <a:srgbClr val="176B87"/>
                </a:solidFill>
              </a:defRPr>
            </a:pPr>
            <a:r>
              <a:t>05 · Statistical explanation</a:t>
            </a:r>
          </a:p>
        </p:txBody>
      </p:sp>
      <p:sp>
        <p:nvSpPr>
          <p:cNvPr id="3" name="TextBox 2"/>
          <p:cNvSpPr txBox="1"/>
          <p:nvPr/>
        </p:nvSpPr>
        <p:spPr>
          <a:xfrm>
            <a:off x="502920" y="804672"/>
            <a:ext cx="11064240" cy="914400"/>
          </a:xfrm>
          <a:prstGeom prst="rect">
            <a:avLst/>
          </a:prstGeom>
          <a:noFill/>
        </p:spPr>
        <p:txBody>
          <a:bodyPr wrap="square">
            <a:spAutoFit/>
          </a:bodyPr>
          <a:lstStyle/>
          <a:p>
            <a:pPr>
              <a:spcAft>
                <a:spcPts val="1400"/>
              </a:spcAft>
              <a:defRPr sz="3000" b="1">
                <a:solidFill>
                  <a:srgbClr val="142B45"/>
                </a:solidFill>
              </a:defRPr>
            </a:pPr>
            <a:r>
              <a:t>An exact identity, with a causal boundary</a:t>
            </a:r>
          </a:p>
        </p:txBody>
      </p:sp>
      <p:pic>
        <p:nvPicPr>
          <p:cNvPr id="4" name="Picture 3" descr="cost_decomposition.png"/>
          <p:cNvPicPr>
            <a:picLocks noChangeAspect="1"/>
          </p:cNvPicPr>
          <p:nvPr/>
        </p:nvPicPr>
        <p:blipFill>
          <a:blip r:embed="rId2"/>
          <a:stretch>
            <a:fillRect/>
          </a:stretch>
        </p:blipFill>
        <p:spPr>
          <a:xfrm>
            <a:off x="4480560" y="1874519"/>
            <a:ext cx="7178040" cy="4410738"/>
          </a:xfrm>
          <a:prstGeom prst="rect">
            <a:avLst/>
          </a:prstGeom>
        </p:spPr>
      </p:pic>
      <p:sp>
        <p:nvSpPr>
          <p:cNvPr id="5" name="TextBox 4"/>
          <p:cNvSpPr txBox="1"/>
          <p:nvPr/>
        </p:nvSpPr>
        <p:spPr>
          <a:xfrm>
            <a:off x="594360" y="1874519"/>
            <a:ext cx="3611880" cy="4160520"/>
          </a:xfrm>
          <a:prstGeom prst="rect">
            <a:avLst/>
          </a:prstGeom>
          <a:noFill/>
        </p:spPr>
        <p:txBody>
          <a:bodyPr wrap="square">
            <a:spAutoFit/>
          </a:bodyPr>
          <a:lstStyle/>
          <a:p>
            <a:pPr>
              <a:spcAft>
                <a:spcPts val="1400"/>
              </a:spcAft>
              <a:defRPr sz="2000" b="0">
                <a:solidFill>
                  <a:srgbClr val="142B45"/>
                </a:solidFill>
              </a:defRPr>
            </a:pPr>
            <a:r>
              <a:t>• Volume: +£7.48m · mix: +£1.25m</a:t>
            </a:r>
          </a:p>
          <a:p>
            <a:pPr>
              <a:spcAft>
                <a:spcPts val="1400"/>
              </a:spcAft>
              <a:defRPr sz="2000" b="0">
                <a:solidFill>
                  <a:srgbClr val="142B45"/>
                </a:solidFill>
              </a:defRPr>
            </a:pPr>
            <a:r>
              <a:t>• Within-presentation NIC/item: −£59.24m</a:t>
            </a:r>
          </a:p>
          <a:p>
            <a:pPr>
              <a:spcAft>
                <a:spcPts val="1400"/>
              </a:spcAft>
              <a:defRPr sz="2000" b="0">
                <a:solidFill>
                  <a:srgbClr val="142B45"/>
                </a:solidFill>
              </a:defRPr>
            </a:pPr>
            <a:r>
              <a:t>• Total observed NIC change: −£50.51m</a:t>
            </a:r>
          </a:p>
        </p:txBody>
      </p:sp>
      <p:sp>
        <p:nvSpPr>
          <p:cNvPr id="6" name="TextBox 5"/>
          <p:cNvSpPr txBox="1"/>
          <p:nvPr/>
        </p:nvSpPr>
        <p:spPr>
          <a:xfrm>
            <a:off x="502920" y="6473952"/>
            <a:ext cx="10789920" cy="228600"/>
          </a:xfrm>
          <a:prstGeom prst="rect">
            <a:avLst/>
          </a:prstGeom>
          <a:noFill/>
        </p:spPr>
        <p:txBody>
          <a:bodyPr wrap="square">
            <a:spAutoFit/>
          </a:bodyPr>
          <a:lstStyle/>
          <a:p>
            <a:pPr>
              <a:spcAft>
                <a:spcPts val="1400"/>
              </a:spcAft>
              <a:defRPr sz="1000" b="0">
                <a:solidFill>
                  <a:srgbClr val="52647A"/>
                </a:solidFill>
              </a:defRPr>
            </a:pPr>
            <a:r>
              <a:t>PharmaLens · public NHSBSA data · independent AI-assisted portfolio · October 2026</a:t>
            </a:r>
          </a:p>
        </p:txBody>
      </p:sp>
      <p:sp>
        <p:nvSpPr>
          <p:cNvPr id="7" name="TextBox 6"/>
          <p:cNvSpPr txBox="1"/>
          <p:nvPr/>
        </p:nvSpPr>
        <p:spPr>
          <a:xfrm>
            <a:off x="11247120" y="6473952"/>
            <a:ext cx="457200" cy="228600"/>
          </a:xfrm>
          <a:prstGeom prst="rect">
            <a:avLst/>
          </a:prstGeom>
          <a:noFill/>
        </p:spPr>
        <p:txBody>
          <a:bodyPr wrap="square">
            <a:spAutoFit/>
          </a:bodyPr>
          <a:lstStyle/>
          <a:p>
            <a:pPr>
              <a:spcAft>
                <a:spcPts val="1400"/>
              </a:spcAft>
              <a:defRPr sz="1000" b="0">
                <a:solidFill>
                  <a:srgbClr val="52647A"/>
                </a:solidFill>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064240" cy="365760"/>
          </a:xfrm>
          <a:prstGeom prst="rect">
            <a:avLst/>
          </a:prstGeom>
          <a:noFill/>
        </p:spPr>
        <p:txBody>
          <a:bodyPr wrap="square">
            <a:spAutoFit/>
          </a:bodyPr>
          <a:lstStyle/>
          <a:p>
            <a:pPr>
              <a:spcAft>
                <a:spcPts val="1400"/>
              </a:spcAft>
              <a:defRPr sz="1500" b="1">
                <a:solidFill>
                  <a:srgbClr val="176B87"/>
                </a:solidFill>
              </a:defRPr>
            </a:pPr>
            <a:r>
              <a:t>06 · Forecasting</a:t>
            </a:r>
          </a:p>
        </p:txBody>
      </p:sp>
      <p:sp>
        <p:nvSpPr>
          <p:cNvPr id="3" name="TextBox 2"/>
          <p:cNvSpPr txBox="1"/>
          <p:nvPr/>
        </p:nvSpPr>
        <p:spPr>
          <a:xfrm>
            <a:off x="502920" y="804672"/>
            <a:ext cx="11064240" cy="914400"/>
          </a:xfrm>
          <a:prstGeom prst="rect">
            <a:avLst/>
          </a:prstGeom>
          <a:noFill/>
        </p:spPr>
        <p:txBody>
          <a:bodyPr wrap="square">
            <a:spAutoFit/>
          </a:bodyPr>
          <a:lstStyle/>
          <a:p>
            <a:pPr>
              <a:spcAft>
                <a:spcPts val="1400"/>
              </a:spcAft>
              <a:defRPr sz="3000" b="1">
                <a:solidFill>
                  <a:srgbClr val="142B45"/>
                </a:solidFill>
              </a:defRPr>
            </a:pPr>
            <a:r>
              <a:t>Preserve the frozen selection</a:t>
            </a:r>
          </a:p>
        </p:txBody>
      </p:sp>
      <p:pic>
        <p:nvPicPr>
          <p:cNvPr id="4" name="Picture 3" descr="national_model_comparison.png"/>
          <p:cNvPicPr>
            <a:picLocks noChangeAspect="1"/>
          </p:cNvPicPr>
          <p:nvPr/>
        </p:nvPicPr>
        <p:blipFill>
          <a:blip r:embed="rId2"/>
          <a:stretch>
            <a:fillRect/>
          </a:stretch>
        </p:blipFill>
        <p:spPr>
          <a:xfrm>
            <a:off x="4480560" y="1874519"/>
            <a:ext cx="7178040" cy="4029956"/>
          </a:xfrm>
          <a:prstGeom prst="rect">
            <a:avLst/>
          </a:prstGeom>
        </p:spPr>
      </p:pic>
      <p:sp>
        <p:nvSpPr>
          <p:cNvPr id="5" name="TextBox 4"/>
          <p:cNvSpPr txBox="1"/>
          <p:nvPr/>
        </p:nvSpPr>
        <p:spPr>
          <a:xfrm>
            <a:off x="594360" y="1874519"/>
            <a:ext cx="3611880" cy="4160520"/>
          </a:xfrm>
          <a:prstGeom prst="rect">
            <a:avLst/>
          </a:prstGeom>
          <a:noFill/>
        </p:spPr>
        <p:txBody>
          <a:bodyPr wrap="square">
            <a:spAutoFit/>
          </a:bodyPr>
          <a:lstStyle/>
          <a:p>
            <a:pPr>
              <a:spcAft>
                <a:spcPts val="1400"/>
              </a:spcAft>
              <a:defRPr sz="2000" b="0">
                <a:solidFill>
                  <a:srgbClr val="142B45"/>
                </a:solidFill>
              </a:defRPr>
            </a:pPr>
            <a:r>
              <a:t>• Development selection frozen before holdout</a:t>
            </a:r>
          </a:p>
          <a:p>
            <a:pPr>
              <a:spcAft>
                <a:spcPts val="1400"/>
              </a:spcAft>
              <a:defRPr sz="2000" b="0">
                <a:solidFill>
                  <a:srgbClr val="142B45"/>
                </a:solidFill>
              </a:defRPr>
            </a:pPr>
            <a:r>
              <a:t>• National ETS: MASE 0.888 · WAPE 3.684%</a:t>
            </a:r>
          </a:p>
          <a:p>
            <a:pPr>
              <a:spcAft>
                <a:spcPts val="1400"/>
              </a:spcAft>
              <a:defRPr sz="2000" b="0">
                <a:solidFill>
                  <a:srgbClr val="142B45"/>
                </a:solidFill>
              </a:defRPr>
            </a:pPr>
            <a:r>
              <a:t>• Ridge comparator MASE 0.872 is reported honestly</a:t>
            </a:r>
          </a:p>
        </p:txBody>
      </p:sp>
      <p:sp>
        <p:nvSpPr>
          <p:cNvPr id="6" name="TextBox 5"/>
          <p:cNvSpPr txBox="1"/>
          <p:nvPr/>
        </p:nvSpPr>
        <p:spPr>
          <a:xfrm>
            <a:off x="502920" y="6473952"/>
            <a:ext cx="10789920" cy="228600"/>
          </a:xfrm>
          <a:prstGeom prst="rect">
            <a:avLst/>
          </a:prstGeom>
          <a:noFill/>
        </p:spPr>
        <p:txBody>
          <a:bodyPr wrap="square">
            <a:spAutoFit/>
          </a:bodyPr>
          <a:lstStyle/>
          <a:p>
            <a:pPr>
              <a:spcAft>
                <a:spcPts val="1400"/>
              </a:spcAft>
              <a:defRPr sz="1000" b="0">
                <a:solidFill>
                  <a:srgbClr val="52647A"/>
                </a:solidFill>
              </a:defRPr>
            </a:pPr>
            <a:r>
              <a:t>PharmaLens · public NHSBSA data · independent AI-assisted portfolio · October 2026</a:t>
            </a:r>
          </a:p>
        </p:txBody>
      </p:sp>
      <p:sp>
        <p:nvSpPr>
          <p:cNvPr id="7" name="TextBox 6"/>
          <p:cNvSpPr txBox="1"/>
          <p:nvPr/>
        </p:nvSpPr>
        <p:spPr>
          <a:xfrm>
            <a:off x="11247120" y="6473952"/>
            <a:ext cx="457200" cy="228600"/>
          </a:xfrm>
          <a:prstGeom prst="rect">
            <a:avLst/>
          </a:prstGeom>
          <a:noFill/>
        </p:spPr>
        <p:txBody>
          <a:bodyPr wrap="square">
            <a:spAutoFit/>
          </a:bodyPr>
          <a:lstStyle/>
          <a:p>
            <a:pPr>
              <a:spcAft>
                <a:spcPts val="1400"/>
              </a:spcAft>
              <a:defRPr sz="1000" b="0">
                <a:solidFill>
                  <a:srgbClr val="52647A"/>
                </a:solidFill>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064240" cy="365760"/>
          </a:xfrm>
          <a:prstGeom prst="rect">
            <a:avLst/>
          </a:prstGeom>
          <a:noFill/>
        </p:spPr>
        <p:txBody>
          <a:bodyPr wrap="square">
            <a:spAutoFit/>
          </a:bodyPr>
          <a:lstStyle/>
          <a:p>
            <a:pPr>
              <a:spcAft>
                <a:spcPts val="1400"/>
              </a:spcAft>
              <a:defRPr sz="1500" b="1">
                <a:solidFill>
                  <a:srgbClr val="176B87"/>
                </a:solidFill>
              </a:defRPr>
            </a:pPr>
            <a:r>
              <a:t>07 · Reliability limits</a:t>
            </a:r>
          </a:p>
        </p:txBody>
      </p:sp>
      <p:sp>
        <p:nvSpPr>
          <p:cNvPr id="3" name="TextBox 2"/>
          <p:cNvSpPr txBox="1"/>
          <p:nvPr/>
        </p:nvSpPr>
        <p:spPr>
          <a:xfrm>
            <a:off x="502920" y="804672"/>
            <a:ext cx="11064240" cy="914400"/>
          </a:xfrm>
          <a:prstGeom prst="rect">
            <a:avLst/>
          </a:prstGeom>
          <a:noFill/>
        </p:spPr>
        <p:txBody>
          <a:bodyPr wrap="square">
            <a:spAutoFit/>
          </a:bodyPr>
          <a:lstStyle/>
          <a:p>
            <a:pPr>
              <a:spcAft>
                <a:spcPts val="1400"/>
              </a:spcAft>
              <a:defRPr sz="3000" b="1">
                <a:solidFill>
                  <a:srgbClr val="142B45"/>
                </a:solidFill>
              </a:defRPr>
            </a:pPr>
            <a:r>
              <a:t>Future-dated does not mean already validated</a:t>
            </a:r>
          </a:p>
        </p:txBody>
      </p:sp>
      <p:sp>
        <p:nvSpPr>
          <p:cNvPr id="4" name="TextBox 3"/>
          <p:cNvSpPr txBox="1"/>
          <p:nvPr/>
        </p:nvSpPr>
        <p:spPr>
          <a:xfrm>
            <a:off x="594360" y="1874519"/>
            <a:ext cx="10789920" cy="4160520"/>
          </a:xfrm>
          <a:prstGeom prst="rect">
            <a:avLst/>
          </a:prstGeom>
          <a:noFill/>
        </p:spPr>
        <p:txBody>
          <a:bodyPr wrap="square">
            <a:spAutoFit/>
          </a:bodyPr>
          <a:lstStyle/>
          <a:p>
            <a:pPr>
              <a:spcAft>
                <a:spcPts val="1400"/>
              </a:spcAft>
              <a:defRPr sz="2000" b="0">
                <a:solidFill>
                  <a:srgbClr val="142B45"/>
                </a:solidFill>
              </a:defRPr>
            </a:pPr>
            <a:r>
              <a:t>• 36 modeled series · 15 require manual review</a:t>
            </a:r>
          </a:p>
          <a:p>
            <a:pPr>
              <a:spcAft>
                <a:spcPts val="1400"/>
              </a:spcAft>
              <a:defRPr sz="2000" b="0">
                <a:solidFill>
                  <a:srgbClr val="142B45"/>
                </a:solidFill>
              </a:defRPr>
            </a:pPr>
            <a:r>
              <a:t>• Intervals unavailable: residual support below stated threshold</a:t>
            </a:r>
          </a:p>
          <a:p>
            <a:pPr>
              <a:spcAft>
                <a:spcPts val="1400"/>
              </a:spcAft>
              <a:defRPr sz="2000" b="0">
                <a:solidFill>
                  <a:srgbClr val="142B45"/>
                </a:solidFill>
              </a:defRPr>
            </a:pPr>
            <a:r>
              <a:t>• Jan–Mar 2026 forecasts use retrospective Dec 2025 cutoff</a:t>
            </a:r>
          </a:p>
        </p:txBody>
      </p:sp>
      <p:sp>
        <p:nvSpPr>
          <p:cNvPr id="5" name="TextBox 4"/>
          <p:cNvSpPr txBox="1"/>
          <p:nvPr/>
        </p:nvSpPr>
        <p:spPr>
          <a:xfrm>
            <a:off x="502920" y="6473952"/>
            <a:ext cx="10789920" cy="228600"/>
          </a:xfrm>
          <a:prstGeom prst="rect">
            <a:avLst/>
          </a:prstGeom>
          <a:noFill/>
        </p:spPr>
        <p:txBody>
          <a:bodyPr wrap="square">
            <a:spAutoFit/>
          </a:bodyPr>
          <a:lstStyle/>
          <a:p>
            <a:pPr>
              <a:spcAft>
                <a:spcPts val="1400"/>
              </a:spcAft>
              <a:defRPr sz="1000" b="0">
                <a:solidFill>
                  <a:srgbClr val="52647A"/>
                </a:solidFill>
              </a:defRPr>
            </a:pPr>
            <a:r>
              <a:t>PharmaLens · public NHSBSA data · independent AI-assisted portfolio · October 2026</a:t>
            </a:r>
          </a:p>
        </p:txBody>
      </p:sp>
      <p:sp>
        <p:nvSpPr>
          <p:cNvPr id="6" name="TextBox 5"/>
          <p:cNvSpPr txBox="1"/>
          <p:nvPr/>
        </p:nvSpPr>
        <p:spPr>
          <a:xfrm>
            <a:off x="11247120" y="6473952"/>
            <a:ext cx="457200" cy="228600"/>
          </a:xfrm>
          <a:prstGeom prst="rect">
            <a:avLst/>
          </a:prstGeom>
          <a:noFill/>
        </p:spPr>
        <p:txBody>
          <a:bodyPr wrap="square">
            <a:spAutoFit/>
          </a:bodyPr>
          <a:lstStyle/>
          <a:p>
            <a:pPr>
              <a:spcAft>
                <a:spcPts val="1400"/>
              </a:spcAft>
              <a:defRPr sz="1000" b="0">
                <a:solidFill>
                  <a:srgbClr val="52647A"/>
                </a:solidFill>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064240" cy="365760"/>
          </a:xfrm>
          <a:prstGeom prst="rect">
            <a:avLst/>
          </a:prstGeom>
          <a:noFill/>
        </p:spPr>
        <p:txBody>
          <a:bodyPr wrap="square">
            <a:spAutoFit/>
          </a:bodyPr>
          <a:lstStyle/>
          <a:p>
            <a:pPr>
              <a:spcAft>
                <a:spcPts val="1400"/>
              </a:spcAft>
              <a:defRPr sz="1500" b="1">
                <a:solidFill>
                  <a:srgbClr val="176B87"/>
                </a:solidFill>
              </a:defRPr>
            </a:pPr>
            <a:r>
              <a:t>08 · Decision intelligence</a:t>
            </a:r>
          </a:p>
        </p:txBody>
      </p:sp>
      <p:sp>
        <p:nvSpPr>
          <p:cNvPr id="3" name="TextBox 2"/>
          <p:cNvSpPr txBox="1"/>
          <p:nvPr/>
        </p:nvSpPr>
        <p:spPr>
          <a:xfrm>
            <a:off x="502920" y="804672"/>
            <a:ext cx="11064240" cy="914400"/>
          </a:xfrm>
          <a:prstGeom prst="rect">
            <a:avLst/>
          </a:prstGeom>
          <a:noFill/>
        </p:spPr>
        <p:txBody>
          <a:bodyPr wrap="square">
            <a:spAutoFit/>
          </a:bodyPr>
          <a:lstStyle/>
          <a:p>
            <a:pPr>
              <a:spcAft>
                <a:spcPts val="1400"/>
              </a:spcAft>
              <a:defRPr sz="3000" b="1">
                <a:solidFill>
                  <a:srgbClr val="142B45"/>
                </a:solidFill>
              </a:defRPr>
            </a:pPr>
            <a:r>
              <a:t>Rank analytical review questions</a:t>
            </a:r>
          </a:p>
        </p:txBody>
      </p:sp>
      <p:sp>
        <p:nvSpPr>
          <p:cNvPr id="4" name="TextBox 3"/>
          <p:cNvSpPr txBox="1"/>
          <p:nvPr/>
        </p:nvSpPr>
        <p:spPr>
          <a:xfrm>
            <a:off x="594360" y="1874519"/>
            <a:ext cx="10789920" cy="4160520"/>
          </a:xfrm>
          <a:prstGeom prst="rect">
            <a:avLst/>
          </a:prstGeom>
          <a:noFill/>
        </p:spPr>
        <p:txBody>
          <a:bodyPr wrap="square">
            <a:spAutoFit/>
          </a:bodyPr>
          <a:lstStyle/>
          <a:p>
            <a:pPr>
              <a:spcAft>
                <a:spcPts val="1400"/>
              </a:spcAft>
              <a:defRPr sz="2000" b="0">
                <a:solidFill>
                  <a:srgbClr val="142B45"/>
                </a:solidFill>
              </a:defRPr>
            </a:pPr>
            <a:r>
              <a:t>• Five weighted percentile components; policy is illustrative</a:t>
            </a:r>
          </a:p>
          <a:p>
            <a:pPr>
              <a:spcAft>
                <a:spcPts val="1400"/>
              </a:spcAft>
              <a:defRPr sz="2000" b="0">
                <a:solidFill>
                  <a:srgbClr val="142B45"/>
                </a:solidFill>
              </a:defRPr>
            </a:pPr>
            <a:r>
              <a:t>• All 7 regional ranks unstable under saved sensitivity rule</a:t>
            </a:r>
          </a:p>
          <a:p>
            <a:pPr>
              <a:spcAft>
                <a:spcPts val="1400"/>
              </a:spcAft>
              <a:defRPr sz="2000" b="0">
                <a:solidFill>
                  <a:srgbClr val="142B45"/>
                </a:solidFill>
              </a:defRPr>
            </a:pPr>
            <a:r>
              <a:t>• 13 presentation priorities unscored; 225 proposed investigations</a:t>
            </a:r>
          </a:p>
        </p:txBody>
      </p:sp>
      <p:sp>
        <p:nvSpPr>
          <p:cNvPr id="5" name="TextBox 4"/>
          <p:cNvSpPr txBox="1"/>
          <p:nvPr/>
        </p:nvSpPr>
        <p:spPr>
          <a:xfrm>
            <a:off x="502920" y="6473952"/>
            <a:ext cx="10789920" cy="228600"/>
          </a:xfrm>
          <a:prstGeom prst="rect">
            <a:avLst/>
          </a:prstGeom>
          <a:noFill/>
        </p:spPr>
        <p:txBody>
          <a:bodyPr wrap="square">
            <a:spAutoFit/>
          </a:bodyPr>
          <a:lstStyle/>
          <a:p>
            <a:pPr>
              <a:spcAft>
                <a:spcPts val="1400"/>
              </a:spcAft>
              <a:defRPr sz="1000" b="0">
                <a:solidFill>
                  <a:srgbClr val="52647A"/>
                </a:solidFill>
              </a:defRPr>
            </a:pPr>
            <a:r>
              <a:t>PharmaLens · public NHSBSA data · independent AI-assisted portfolio · October 2026</a:t>
            </a:r>
          </a:p>
        </p:txBody>
      </p:sp>
      <p:sp>
        <p:nvSpPr>
          <p:cNvPr id="6" name="TextBox 5"/>
          <p:cNvSpPr txBox="1"/>
          <p:nvPr/>
        </p:nvSpPr>
        <p:spPr>
          <a:xfrm>
            <a:off x="11247120" y="6473952"/>
            <a:ext cx="457200" cy="228600"/>
          </a:xfrm>
          <a:prstGeom prst="rect">
            <a:avLst/>
          </a:prstGeom>
          <a:noFill/>
        </p:spPr>
        <p:txBody>
          <a:bodyPr wrap="square">
            <a:spAutoFit/>
          </a:bodyPr>
          <a:lstStyle/>
          <a:p>
            <a:pPr>
              <a:spcAft>
                <a:spcPts val="1400"/>
              </a:spcAft>
              <a:defRPr sz="1000" b="0">
                <a:solidFill>
                  <a:srgbClr val="52647A"/>
                </a:solidFill>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064240" cy="365760"/>
          </a:xfrm>
          <a:prstGeom prst="rect">
            <a:avLst/>
          </a:prstGeom>
          <a:noFill/>
        </p:spPr>
        <p:txBody>
          <a:bodyPr wrap="square">
            <a:spAutoFit/>
          </a:bodyPr>
          <a:lstStyle/>
          <a:p>
            <a:pPr>
              <a:spcAft>
                <a:spcPts val="1400"/>
              </a:spcAft>
              <a:defRPr sz="1500" b="1">
                <a:solidFill>
                  <a:srgbClr val="176B87"/>
                </a:solidFill>
              </a:defRPr>
            </a:pPr>
            <a:r>
              <a:t>09 · Scenario planning</a:t>
            </a:r>
          </a:p>
        </p:txBody>
      </p:sp>
      <p:sp>
        <p:nvSpPr>
          <p:cNvPr id="3" name="TextBox 2"/>
          <p:cNvSpPr txBox="1"/>
          <p:nvPr/>
        </p:nvSpPr>
        <p:spPr>
          <a:xfrm>
            <a:off x="502920" y="804672"/>
            <a:ext cx="11064240" cy="914400"/>
          </a:xfrm>
          <a:prstGeom prst="rect">
            <a:avLst/>
          </a:prstGeom>
          <a:noFill/>
        </p:spPr>
        <p:txBody>
          <a:bodyPr wrap="square">
            <a:spAutoFit/>
          </a:bodyPr>
          <a:lstStyle/>
          <a:p>
            <a:pPr>
              <a:spcAft>
                <a:spcPts val="1400"/>
              </a:spcAft>
              <a:defRPr sz="3000" b="1">
                <a:solidFill>
                  <a:srgbClr val="142B45"/>
                </a:solidFill>
              </a:defRPr>
            </a:pPr>
            <a:r>
              <a:t>Check assumptions through accounting</a:t>
            </a:r>
          </a:p>
        </p:txBody>
      </p:sp>
      <p:pic>
        <p:nvPicPr>
          <p:cNvPr id="4" name="Picture 3" descr="hypothetical_scenarios.png"/>
          <p:cNvPicPr>
            <a:picLocks noChangeAspect="1"/>
          </p:cNvPicPr>
          <p:nvPr/>
        </p:nvPicPr>
        <p:blipFill>
          <a:blip r:embed="rId2"/>
          <a:stretch>
            <a:fillRect/>
          </a:stretch>
        </p:blipFill>
        <p:spPr>
          <a:xfrm>
            <a:off x="4545099" y="1874519"/>
            <a:ext cx="7048961" cy="4480560"/>
          </a:xfrm>
          <a:prstGeom prst="rect">
            <a:avLst/>
          </a:prstGeom>
        </p:spPr>
      </p:pic>
      <p:sp>
        <p:nvSpPr>
          <p:cNvPr id="5" name="TextBox 4"/>
          <p:cNvSpPr txBox="1"/>
          <p:nvPr/>
        </p:nvSpPr>
        <p:spPr>
          <a:xfrm>
            <a:off x="594360" y="1874519"/>
            <a:ext cx="3611880" cy="4160520"/>
          </a:xfrm>
          <a:prstGeom prst="rect">
            <a:avLst/>
          </a:prstGeom>
          <a:noFill/>
        </p:spPr>
        <p:txBody>
          <a:bodyPr wrap="square">
            <a:spAutoFit/>
          </a:bodyPr>
          <a:lstStyle/>
          <a:p>
            <a:pPr>
              <a:spcAft>
                <a:spcPts val="1400"/>
              </a:spcAft>
              <a:defRPr sz="2000" b="0">
                <a:solidFill>
                  <a:srgbClr val="142B45"/>
                </a:solidFill>
              </a:defRPr>
            </a:pPr>
            <a:r>
              <a:t>• Hypothetical NIC = baseline × volume factor × ratio factor</a:t>
            </a:r>
          </a:p>
          <a:p>
            <a:pPr>
              <a:spcAft>
                <a:spcPts val="1400"/>
              </a:spcAft>
              <a:defRPr sz="2000" b="0">
                <a:solidFill>
                  <a:srgbClr val="142B45"/>
                </a:solidFill>
              </a:defRPr>
            </a:pPr>
            <a:r>
              <a:t>• +5% and −5% produce −0.25%, not break-even</a:t>
            </a:r>
          </a:p>
          <a:p>
            <a:pPr>
              <a:spcAft>
                <a:spcPts val="1400"/>
              </a:spcAft>
              <a:defRPr sz="2000" b="0">
                <a:solidFill>
                  <a:srgbClr val="142B45"/>
                </a:solidFill>
              </a:defRPr>
            </a:pPr>
            <a:r>
              <a:t>• Exact offset for +5% volume: −4.7619% NIC/item</a:t>
            </a:r>
          </a:p>
        </p:txBody>
      </p:sp>
      <p:sp>
        <p:nvSpPr>
          <p:cNvPr id="6" name="TextBox 5"/>
          <p:cNvSpPr txBox="1"/>
          <p:nvPr/>
        </p:nvSpPr>
        <p:spPr>
          <a:xfrm>
            <a:off x="502920" y="6473952"/>
            <a:ext cx="10789920" cy="228600"/>
          </a:xfrm>
          <a:prstGeom prst="rect">
            <a:avLst/>
          </a:prstGeom>
          <a:noFill/>
        </p:spPr>
        <p:txBody>
          <a:bodyPr wrap="square">
            <a:spAutoFit/>
          </a:bodyPr>
          <a:lstStyle/>
          <a:p>
            <a:pPr>
              <a:spcAft>
                <a:spcPts val="1400"/>
              </a:spcAft>
              <a:defRPr sz="1000" b="0">
                <a:solidFill>
                  <a:srgbClr val="52647A"/>
                </a:solidFill>
              </a:defRPr>
            </a:pPr>
            <a:r>
              <a:t>PharmaLens · public NHSBSA data · independent AI-assisted portfolio · October 2026</a:t>
            </a:r>
          </a:p>
        </p:txBody>
      </p:sp>
      <p:sp>
        <p:nvSpPr>
          <p:cNvPr id="7" name="TextBox 6"/>
          <p:cNvSpPr txBox="1"/>
          <p:nvPr/>
        </p:nvSpPr>
        <p:spPr>
          <a:xfrm>
            <a:off x="11247120" y="6473952"/>
            <a:ext cx="457200" cy="228600"/>
          </a:xfrm>
          <a:prstGeom prst="rect">
            <a:avLst/>
          </a:prstGeom>
          <a:noFill/>
        </p:spPr>
        <p:txBody>
          <a:bodyPr wrap="square">
            <a:spAutoFit/>
          </a:bodyPr>
          <a:lstStyle/>
          <a:p>
            <a:pPr>
              <a:spcAft>
                <a:spcPts val="1400"/>
              </a:spcAft>
              <a:defRPr sz="1000" b="0">
                <a:solidFill>
                  <a:srgbClr val="52647A"/>
                </a:solidFil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064240" cy="365760"/>
          </a:xfrm>
          <a:prstGeom prst="rect">
            <a:avLst/>
          </a:prstGeom>
          <a:noFill/>
        </p:spPr>
        <p:txBody>
          <a:bodyPr wrap="square">
            <a:spAutoFit/>
          </a:bodyPr>
          <a:lstStyle/>
          <a:p>
            <a:pPr>
              <a:spcAft>
                <a:spcPts val="1400"/>
              </a:spcAft>
              <a:defRPr sz="1500" b="1">
                <a:solidFill>
                  <a:srgbClr val="176B87"/>
                </a:solidFill>
              </a:defRPr>
            </a:pPr>
            <a:r>
              <a:t>10 · Dashboard and validation</a:t>
            </a:r>
          </a:p>
        </p:txBody>
      </p:sp>
      <p:sp>
        <p:nvSpPr>
          <p:cNvPr id="3" name="TextBox 2"/>
          <p:cNvSpPr txBox="1"/>
          <p:nvPr/>
        </p:nvSpPr>
        <p:spPr>
          <a:xfrm>
            <a:off x="502920" y="804672"/>
            <a:ext cx="11064240" cy="914400"/>
          </a:xfrm>
          <a:prstGeom prst="rect">
            <a:avLst/>
          </a:prstGeom>
          <a:noFill/>
        </p:spPr>
        <p:txBody>
          <a:bodyPr wrap="square">
            <a:spAutoFit/>
          </a:bodyPr>
          <a:lstStyle/>
          <a:p>
            <a:pPr>
              <a:spcAft>
                <a:spcPts val="1400"/>
              </a:spcAft>
              <a:defRPr sz="3000" b="1">
                <a:solidFill>
                  <a:srgbClr val="142B45"/>
                </a:solidFill>
              </a:defRPr>
            </a:pPr>
            <a:r>
              <a:t>Inspect the evidence, then drill down</a:t>
            </a:r>
          </a:p>
        </p:txBody>
      </p:sp>
      <p:pic>
        <p:nvPicPr>
          <p:cNvPr id="4" name="Picture 3" descr="01_executive_overview.png"/>
          <p:cNvPicPr>
            <a:picLocks noChangeAspect="1"/>
          </p:cNvPicPr>
          <p:nvPr/>
        </p:nvPicPr>
        <p:blipFill>
          <a:blip r:embed="rId2"/>
          <a:stretch>
            <a:fillRect/>
          </a:stretch>
        </p:blipFill>
        <p:spPr>
          <a:xfrm>
            <a:off x="4843576" y="1874519"/>
            <a:ext cx="6452006" cy="4480560"/>
          </a:xfrm>
          <a:prstGeom prst="rect">
            <a:avLst/>
          </a:prstGeom>
        </p:spPr>
      </p:pic>
      <p:sp>
        <p:nvSpPr>
          <p:cNvPr id="5" name="TextBox 4"/>
          <p:cNvSpPr txBox="1"/>
          <p:nvPr/>
        </p:nvSpPr>
        <p:spPr>
          <a:xfrm>
            <a:off x="594360" y="1874519"/>
            <a:ext cx="3611880" cy="4160520"/>
          </a:xfrm>
          <a:prstGeom prst="rect">
            <a:avLst/>
          </a:prstGeom>
          <a:noFill/>
        </p:spPr>
        <p:txBody>
          <a:bodyPr wrap="square">
            <a:spAutoFit/>
          </a:bodyPr>
          <a:lstStyle/>
          <a:p>
            <a:pPr>
              <a:spcAft>
                <a:spcPts val="1400"/>
              </a:spcAft>
              <a:defRPr sz="2000" b="0">
                <a:solidFill>
                  <a:srgbClr val="142B45"/>
                </a:solidFill>
              </a:defRPr>
            </a:pPr>
            <a:r>
              <a:t>• Six pages with scope-aware exports and reliability labels</a:t>
            </a:r>
          </a:p>
          <a:p>
            <a:pPr>
              <a:spcAft>
                <a:spcPts val="1400"/>
              </a:spcAft>
              <a:defRPr sz="2000" b="0">
                <a:solidFill>
                  <a:srgbClr val="142B45"/>
                </a:solidFill>
              </a:defRPr>
            </a:pPr>
            <a:r>
              <a:t>• Independent reconciliation and protected-artifact checks</a:t>
            </a:r>
          </a:p>
          <a:p>
            <a:pPr>
              <a:spcAft>
                <a:spcPts val="1400"/>
              </a:spcAft>
              <a:defRPr sz="2000" b="0">
                <a:solidFill>
                  <a:srgbClr val="142B45"/>
                </a:solidFill>
              </a:defRPr>
            </a:pPr>
            <a:r>
              <a:t>• Real browser and separate runtime-environment evidence</a:t>
            </a:r>
          </a:p>
        </p:txBody>
      </p:sp>
      <p:sp>
        <p:nvSpPr>
          <p:cNvPr id="6" name="TextBox 5"/>
          <p:cNvSpPr txBox="1"/>
          <p:nvPr/>
        </p:nvSpPr>
        <p:spPr>
          <a:xfrm>
            <a:off x="502920" y="6473952"/>
            <a:ext cx="10789920" cy="228600"/>
          </a:xfrm>
          <a:prstGeom prst="rect">
            <a:avLst/>
          </a:prstGeom>
          <a:noFill/>
        </p:spPr>
        <p:txBody>
          <a:bodyPr wrap="square">
            <a:spAutoFit/>
          </a:bodyPr>
          <a:lstStyle/>
          <a:p>
            <a:pPr>
              <a:spcAft>
                <a:spcPts val="1400"/>
              </a:spcAft>
              <a:defRPr sz="1000" b="0">
                <a:solidFill>
                  <a:srgbClr val="52647A"/>
                </a:solidFill>
              </a:defRPr>
            </a:pPr>
            <a:r>
              <a:t>PharmaLens · public NHSBSA data · independent AI-assisted portfolio · October 2026</a:t>
            </a:r>
          </a:p>
        </p:txBody>
      </p:sp>
      <p:sp>
        <p:nvSpPr>
          <p:cNvPr id="7" name="TextBox 6"/>
          <p:cNvSpPr txBox="1"/>
          <p:nvPr/>
        </p:nvSpPr>
        <p:spPr>
          <a:xfrm>
            <a:off x="11247120" y="6473952"/>
            <a:ext cx="457200" cy="228600"/>
          </a:xfrm>
          <a:prstGeom prst="rect">
            <a:avLst/>
          </a:prstGeom>
          <a:noFill/>
        </p:spPr>
        <p:txBody>
          <a:bodyPr wrap="square">
            <a:spAutoFit/>
          </a:bodyPr>
          <a:lstStyle/>
          <a:p>
            <a:pPr>
              <a:spcAft>
                <a:spcPts val="1400"/>
              </a:spcAft>
              <a:defRPr sz="1000" b="0">
                <a:solidFill>
                  <a:srgbClr val="52647A"/>
                </a:solidFil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064240" cy="365760"/>
          </a:xfrm>
          <a:prstGeom prst="rect">
            <a:avLst/>
          </a:prstGeom>
          <a:noFill/>
        </p:spPr>
        <p:txBody>
          <a:bodyPr wrap="square">
            <a:spAutoFit/>
          </a:bodyPr>
          <a:lstStyle/>
          <a:p>
            <a:pPr>
              <a:spcAft>
                <a:spcPts val="1400"/>
              </a:spcAft>
              <a:defRPr sz="1500" b="1">
                <a:solidFill>
                  <a:srgbClr val="176B87"/>
                </a:solidFill>
              </a:defRPr>
            </a:pPr>
            <a:r>
              <a:t>11 · Limits and next steps</a:t>
            </a:r>
          </a:p>
        </p:txBody>
      </p:sp>
      <p:sp>
        <p:nvSpPr>
          <p:cNvPr id="3" name="TextBox 2"/>
          <p:cNvSpPr txBox="1"/>
          <p:nvPr/>
        </p:nvSpPr>
        <p:spPr>
          <a:xfrm>
            <a:off x="502920" y="804672"/>
            <a:ext cx="11064240" cy="914400"/>
          </a:xfrm>
          <a:prstGeom prst="rect">
            <a:avLst/>
          </a:prstGeom>
          <a:noFill/>
        </p:spPr>
        <p:txBody>
          <a:bodyPr wrap="square">
            <a:spAutoFit/>
          </a:bodyPr>
          <a:lstStyle/>
          <a:p>
            <a:pPr>
              <a:spcAft>
                <a:spcPts val="1400"/>
              </a:spcAft>
              <a:defRPr sz="3000" b="1">
                <a:solidFill>
                  <a:srgbClr val="142B45"/>
                </a:solidFill>
              </a:defRPr>
            </a:pPr>
            <a:r>
              <a:t>A defensible portfolio, with clear boundaries</a:t>
            </a:r>
          </a:p>
        </p:txBody>
      </p:sp>
      <p:sp>
        <p:nvSpPr>
          <p:cNvPr id="4" name="TextBox 3"/>
          <p:cNvSpPr txBox="1"/>
          <p:nvPr/>
        </p:nvSpPr>
        <p:spPr>
          <a:xfrm>
            <a:off x="594360" y="1874519"/>
            <a:ext cx="10789920" cy="4160520"/>
          </a:xfrm>
          <a:prstGeom prst="rect">
            <a:avLst/>
          </a:prstGeom>
          <a:noFill/>
        </p:spPr>
        <p:txBody>
          <a:bodyPr wrap="square">
            <a:spAutoFit/>
          </a:bodyPr>
          <a:lstStyle/>
          <a:p>
            <a:pPr>
              <a:spcAft>
                <a:spcPts val="1400"/>
              </a:spcAft>
              <a:defRPr sz="2000" b="0">
                <a:solidFill>
                  <a:srgbClr val="142B45"/>
                </a:solidFill>
              </a:defRPr>
            </a:pPr>
            <a:r>
              <a:t>• No manufacturer revenue, causal savings or clinical recommendations</a:t>
            </a:r>
          </a:p>
          <a:p>
            <a:pPr>
              <a:spcAft>
                <a:spcPts val="1400"/>
              </a:spcAft>
              <a:defRPr sz="2000" b="0">
                <a:solidFill>
                  <a:srgbClr val="142B45"/>
                </a:solidFill>
              </a:defRPr>
            </a:pPr>
            <a:r>
              <a:t>• More history, release-aware evaluation and user-reviewed policies</a:t>
            </a:r>
          </a:p>
          <a:p>
            <a:pPr>
              <a:spcAft>
                <a:spcPts val="1400"/>
              </a:spcAft>
              <a:defRPr sz="2000" b="0">
                <a:solidFill>
                  <a:srgbClr val="142B45"/>
                </a:solidFill>
              </a:defRPr>
            </a:pPr>
            <a:r>
              <a:t>• GitHub/cloud publication and code licence remain owner decisions</a:t>
            </a:r>
          </a:p>
        </p:txBody>
      </p:sp>
      <p:sp>
        <p:nvSpPr>
          <p:cNvPr id="5" name="TextBox 4"/>
          <p:cNvSpPr txBox="1"/>
          <p:nvPr/>
        </p:nvSpPr>
        <p:spPr>
          <a:xfrm>
            <a:off x="502920" y="6473952"/>
            <a:ext cx="10789920" cy="228600"/>
          </a:xfrm>
          <a:prstGeom prst="rect">
            <a:avLst/>
          </a:prstGeom>
          <a:noFill/>
        </p:spPr>
        <p:txBody>
          <a:bodyPr wrap="square">
            <a:spAutoFit/>
          </a:bodyPr>
          <a:lstStyle/>
          <a:p>
            <a:pPr>
              <a:spcAft>
                <a:spcPts val="1400"/>
              </a:spcAft>
              <a:defRPr sz="1000" b="0">
                <a:solidFill>
                  <a:srgbClr val="52647A"/>
                </a:solidFill>
              </a:defRPr>
            </a:pPr>
            <a:r>
              <a:t>PharmaLens · public NHSBSA data · independent AI-assisted portfolio · October 2026</a:t>
            </a:r>
          </a:p>
        </p:txBody>
      </p:sp>
      <p:sp>
        <p:nvSpPr>
          <p:cNvPr id="6" name="TextBox 5"/>
          <p:cNvSpPr txBox="1"/>
          <p:nvPr/>
        </p:nvSpPr>
        <p:spPr>
          <a:xfrm>
            <a:off x="11247120" y="6473952"/>
            <a:ext cx="457200" cy="228600"/>
          </a:xfrm>
          <a:prstGeom prst="rect">
            <a:avLst/>
          </a:prstGeom>
          <a:noFill/>
        </p:spPr>
        <p:txBody>
          <a:bodyPr wrap="square">
            <a:spAutoFit/>
          </a:bodyPr>
          <a:lstStyle/>
          <a:p>
            <a:pPr>
              <a:spcAft>
                <a:spcPts val="1400"/>
              </a:spcAft>
              <a:defRPr sz="1000" b="0">
                <a:solidFill>
                  <a:srgbClr val="52647A"/>
                </a:solidFill>
              </a:defRPr>
            </a:pPr>
            <a: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